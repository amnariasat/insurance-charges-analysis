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55A5B-D77C-5748-C9D4-32AB67DF76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D115B-0CDB-E12D-9B24-F7931691E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0648E-6D39-79C6-21E8-517C838BC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527E-4F1E-5F49-B841-0B9225C475E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5E189-0517-77D7-04A0-DA2E89570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0A3A0-33BA-1759-0AA3-7C90E6C31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64348-AA4A-2244-8505-D0E09DE0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05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1653F-DA93-1B29-422F-174B182B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923C9-A4AF-AE97-76B4-64171E28A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D0C71-A018-5ECC-C942-900AD9EA4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527E-4F1E-5F49-B841-0B9225C475E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1421F-0303-0266-60B1-8C93D0403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2FDBF-EA7A-C150-3549-2AEC52697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64348-AA4A-2244-8505-D0E09DE0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25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9424C-221B-1197-7463-68611EF16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004BA-EBE8-556C-EC43-F56B1B85E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995F4-7193-3111-BD4B-8651BDFD3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527E-4F1E-5F49-B841-0B9225C475E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FA52B-FCD7-FDBE-A75E-770742D92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1EE35-5A3B-3B6E-A610-F1055F73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64348-AA4A-2244-8505-D0E09DE0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16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2D89-00FA-1F17-CE63-599B81735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BE990-A8A7-AC8F-541F-C380D4BAC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7BABE-ADAF-932F-18F0-2604D19B5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3B1B4-7FCB-FD72-2BAB-D19B97E49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527E-4F1E-5F49-B841-0B9225C475E9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DC3E6-9894-0BBA-002F-7DFDA62EF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399EF-029F-495D-96EC-359E93EFC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64348-AA4A-2244-8505-D0E09DE0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50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8A921-673B-9084-65D5-1C86F5977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B1A6D-C9B6-9C23-FE40-DFD30C900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76C9AF-94A8-0371-0365-96188FF89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288F78-7FD1-7C3A-AF06-698523194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C46333-F4E1-7A77-C5C9-A47570170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2DE123-C686-B26E-7FD3-6031DB8EF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527E-4F1E-5F49-B841-0B9225C475E9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00F43D-09B7-BB42-C629-04B4F1AD4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07C886-97E4-D5AA-BF7E-5EF5B8802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64348-AA4A-2244-8505-D0E09DE0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75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2197F-03EB-31D4-F220-F0AFDC6EE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059BC5-668E-D581-8701-D87CAC3C0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527E-4F1E-5F49-B841-0B9225C475E9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8DDA58-91D3-DF43-A46B-44FA01AC3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8AE70-E6E8-02C6-62A9-101A515E2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64348-AA4A-2244-8505-D0E09DE0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45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B5ED08-03B7-E509-09B2-A2181293C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527E-4F1E-5F49-B841-0B9225C475E9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BFAD1F-3AB7-08BF-C074-DCED3F58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09114-CFCC-A9C6-50E9-EC9AEC5A8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64348-AA4A-2244-8505-D0E09DE0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31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E7B3E-957A-7AA8-A5C6-EAB89A5B9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3FF46-2AF8-4E1F-36BC-0E4BAA776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20218-7375-DF89-E800-4B4F994FB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F31A8-3487-2DA6-EC53-F37F80866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527E-4F1E-5F49-B841-0B9225C475E9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56EB4-B73E-031F-677D-710EAC3A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C204D-9A62-01E8-FCD3-CCD3160FB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64348-AA4A-2244-8505-D0E09DE0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714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FB20C-37E8-18F0-4C10-8A619BB22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4AF8ED-261B-8042-46AC-755097C9B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B05A1-8F82-B8BF-8DE8-A7C3CB8D8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8ADAE-7DC7-8062-2DDF-048F9820E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527E-4F1E-5F49-B841-0B9225C475E9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76B9B-3F01-6B96-3B1C-BACA88CD4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5F66D-FE89-0E81-D60F-3DA53C8D4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64348-AA4A-2244-8505-D0E09DE0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3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44BB4-AC44-73A8-A6DD-F6D6EB55A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3CAC0-2669-6257-BA26-5501DDF5B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58E2C-F2AD-A5A0-F0C4-8EF0D40FB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527E-4F1E-5F49-B841-0B9225C475E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F5F71-B5C2-2F82-DD88-66FEB5035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77895-B4DC-9B8A-E8D5-94293E6DD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64348-AA4A-2244-8505-D0E09DE0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073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B63569-A58F-45E7-9BCC-89A349BED2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E1237-FCA6-8E39-7A09-1685E541A7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ADFF8-AA8E-061B-94A3-51EC97EA8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527E-4F1E-5F49-B841-0B9225C475E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895BF-0E08-434F-594F-8C2D594AD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AF426-6506-B310-797A-5AEBDF746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64348-AA4A-2244-8505-D0E09DE0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80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AA4358-A5CE-41E5-55FC-F3E09F3B1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58FDF-AC19-92FA-4DC6-1C6938684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8165C-429A-0DDB-ABD5-2F4CEB27A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8527E-4F1E-5F49-B841-0B9225C475E9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5E51E-E4D1-14A4-8CB9-FB8324B14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17F50-B635-C0D3-3BD5-4C1B5E9982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64348-AA4A-2244-8505-D0E09DE0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068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138A5-D137-BEFE-FFD7-3A4F40EBD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9851"/>
            <a:ext cx="9144000" cy="1123902"/>
          </a:xfrm>
        </p:spPr>
        <p:txBody>
          <a:bodyPr/>
          <a:lstStyle/>
          <a:p>
            <a:r>
              <a:rPr lang="en-GB" dirty="0"/>
              <a:t>Insurance Charges Analysis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EF98E3-6CDA-EE0B-AF82-FD6BA6C41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1408" y="5228149"/>
            <a:ext cx="3130939" cy="1046440"/>
          </a:xfrm>
        </p:spPr>
        <p:txBody>
          <a:bodyPr/>
          <a:lstStyle/>
          <a:p>
            <a:r>
              <a:rPr lang="en-GB" dirty="0"/>
              <a:t>Amna </a:t>
            </a:r>
            <a:r>
              <a:rPr lang="en-GB" dirty="0" err="1"/>
              <a:t>Riasat</a:t>
            </a:r>
            <a:endParaRPr lang="en-GB" dirty="0"/>
          </a:p>
          <a:p>
            <a:r>
              <a:rPr lang="en-GB" dirty="0"/>
              <a:t>Data Analyst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103583-97B8-DDDA-E9A2-A9B4F92A5DA9}"/>
              </a:ext>
            </a:extLst>
          </p:cNvPr>
          <p:cNvSpPr txBox="1"/>
          <p:nvPr/>
        </p:nvSpPr>
        <p:spPr>
          <a:xfrm>
            <a:off x="1360632" y="2905780"/>
            <a:ext cx="881726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/>
              <a:t>The aim of this project is to analyse customer data to identify the key factors that influence medical insurance charge.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958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A51D-B4BB-F945-43CE-9DAA07B5F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66" y="0"/>
            <a:ext cx="10515600" cy="1325563"/>
          </a:xfrm>
        </p:spPr>
        <p:txBody>
          <a:bodyPr/>
          <a:lstStyle/>
          <a:p>
            <a:r>
              <a:rPr lang="en-GB" dirty="0"/>
              <a:t>Dataset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CCF2B-E1C2-9949-F4F0-EEEAA6D6E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734" y="1123944"/>
            <a:ext cx="10515600" cy="5154396"/>
          </a:xfrm>
        </p:spPr>
        <p:txBody>
          <a:bodyPr>
            <a:noAutofit/>
          </a:bodyPr>
          <a:lstStyle/>
          <a:p>
            <a:r>
              <a:rPr lang="en-GB" sz="2200" dirty="0"/>
              <a:t>Source: Health Insurance Customer Data</a:t>
            </a:r>
          </a:p>
          <a:p>
            <a:r>
              <a:rPr lang="en-GB" sz="2200" dirty="0"/>
              <a:t>Rows: 1338</a:t>
            </a:r>
          </a:p>
          <a:p>
            <a:r>
              <a:rPr lang="en-GB" sz="2200" dirty="0"/>
              <a:t>Columns: 7</a:t>
            </a:r>
          </a:p>
          <a:p>
            <a:pPr marL="0" indent="0">
              <a:buNone/>
            </a:pPr>
            <a:r>
              <a:rPr lang="en-GB" sz="2200" b="1" u="sng" dirty="0"/>
              <a:t>Key Features:</a:t>
            </a:r>
          </a:p>
          <a:p>
            <a:r>
              <a:rPr lang="en-GB" sz="2200" dirty="0"/>
              <a:t>Age, Gender, BMI</a:t>
            </a:r>
          </a:p>
          <a:p>
            <a:r>
              <a:rPr lang="en-GB" sz="2200" dirty="0"/>
              <a:t>Number of children</a:t>
            </a:r>
          </a:p>
          <a:p>
            <a:r>
              <a:rPr lang="en-GB" sz="2200" dirty="0"/>
              <a:t>Smoking status</a:t>
            </a:r>
          </a:p>
          <a:p>
            <a:r>
              <a:rPr lang="en-GB" sz="2200" dirty="0"/>
              <a:t>Region</a:t>
            </a:r>
          </a:p>
          <a:p>
            <a:r>
              <a:rPr lang="en-GB" sz="2200" dirty="0"/>
              <a:t>Insurance charges</a:t>
            </a:r>
          </a:p>
          <a:p>
            <a:pPr marL="0" indent="0">
              <a:buNone/>
            </a:pPr>
            <a:r>
              <a:rPr lang="en-GB" sz="2200" b="1" u="sng" dirty="0"/>
              <a:t>Business Context:</a:t>
            </a:r>
          </a:p>
          <a:p>
            <a:r>
              <a:rPr lang="en-GB" sz="2200" dirty="0"/>
              <a:t>By analysing where expenses originate, we can optimise our pricing models and better anticipate financial vulnerabilities </a:t>
            </a:r>
          </a:p>
        </p:txBody>
      </p:sp>
    </p:spTree>
    <p:extLst>
      <p:ext uri="{BB962C8B-B14F-4D97-AF65-F5344CB8AC3E}">
        <p14:creationId xmlns:p14="http://schemas.microsoft.com/office/powerpoint/2010/main" val="786870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C270B-FB6A-212B-AA21-BE4AD3C76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793" y="18255"/>
            <a:ext cx="10515600" cy="1325563"/>
          </a:xfrm>
        </p:spPr>
        <p:txBody>
          <a:bodyPr/>
          <a:lstStyle/>
          <a:p>
            <a:r>
              <a:rPr lang="en-GB" dirty="0"/>
              <a:t>Data Preparation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4874C-7453-FC15-D6D8-0A5D7148D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342" y="1138788"/>
            <a:ext cx="10721391" cy="4861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b="1" u="sng" dirty="0"/>
              <a:t>Steps Taken:</a:t>
            </a:r>
          </a:p>
          <a:p>
            <a:r>
              <a:rPr lang="en-GB" sz="2200" dirty="0"/>
              <a:t>Checked for missing values - none were found.</a:t>
            </a:r>
          </a:p>
          <a:p>
            <a:r>
              <a:rPr lang="en-GB" sz="2200" dirty="0"/>
              <a:t>Identified a duplicate record which was simply removed. </a:t>
            </a:r>
          </a:p>
          <a:p>
            <a:r>
              <a:rPr lang="en-GB" sz="2200" dirty="0"/>
              <a:t>Verified correct data types for all variables. </a:t>
            </a:r>
          </a:p>
          <a:p>
            <a:r>
              <a:rPr lang="en-GB" sz="2200" dirty="0"/>
              <a:t>Created BMI categories: Underweight, Normal, Overweight, Obese</a:t>
            </a:r>
          </a:p>
          <a:p>
            <a:r>
              <a:rPr lang="en-GB" sz="2200" dirty="0"/>
              <a:t>Created Age groups: Young, Middle-aged , Senior</a:t>
            </a:r>
          </a:p>
          <a:p>
            <a:endParaRPr lang="en-GB" sz="2200" dirty="0"/>
          </a:p>
          <a:p>
            <a:pPr marL="0" indent="0">
              <a:buNone/>
            </a:pPr>
            <a:r>
              <a:rPr lang="en-GB" sz="2200" dirty="0"/>
              <a:t>The outcome gave me a clean and consistent dataset ready for analysis.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404713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3C0F-523C-3EF8-A810-C0DD87F4E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119" y="37258"/>
            <a:ext cx="10515600" cy="1325563"/>
          </a:xfrm>
        </p:spPr>
        <p:txBody>
          <a:bodyPr/>
          <a:lstStyle/>
          <a:p>
            <a:r>
              <a:rPr lang="en-GB" dirty="0"/>
              <a:t>Exploratory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8469A-C2EC-A69C-1AE9-EBEFBA2F9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87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b="1" u="sng" dirty="0"/>
              <a:t>Findings:</a:t>
            </a:r>
          </a:p>
          <a:p>
            <a:r>
              <a:rPr lang="en-GB" sz="2200" dirty="0"/>
              <a:t>Insurance charges vary widely, indicating high cost variability.</a:t>
            </a:r>
          </a:p>
          <a:p>
            <a:r>
              <a:rPr lang="en-GB" sz="2200" dirty="0"/>
              <a:t>Smokers have significantly higher average charges than non-smokers.</a:t>
            </a:r>
          </a:p>
          <a:p>
            <a:r>
              <a:rPr lang="en-GB" sz="2200" dirty="0"/>
              <a:t>Insurance costs increase steadily with age.</a:t>
            </a:r>
          </a:p>
          <a:p>
            <a:r>
              <a:rPr lang="en-GB" sz="2200" dirty="0"/>
              <a:t>Higher BMI is associated with higher charges.</a:t>
            </a:r>
          </a:p>
          <a:p>
            <a:r>
              <a:rPr lang="en-GB" sz="2200" dirty="0"/>
              <a:t>Gender and region show relatively small differences.</a:t>
            </a:r>
          </a:p>
          <a:p>
            <a:endParaRPr lang="en-GB" sz="2200" dirty="0"/>
          </a:p>
          <a:p>
            <a:pPr marL="0" indent="0">
              <a:buNone/>
            </a:pPr>
            <a:r>
              <a:rPr lang="en-GB" sz="2200" dirty="0"/>
              <a:t>This emphasises how lifestyle and age-related factors dominate cost difference.  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0864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F5A8-CC1A-DC14-DCA6-0EBD91CA3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33" y="18255"/>
            <a:ext cx="10515600" cy="1325563"/>
          </a:xfrm>
        </p:spPr>
        <p:txBody>
          <a:bodyPr/>
          <a:lstStyle/>
          <a:p>
            <a:r>
              <a:rPr lang="en-GB" dirty="0" err="1"/>
              <a:t>Matplotlib</a:t>
            </a:r>
            <a:r>
              <a:rPr lang="en-GB" dirty="0"/>
              <a:t> Visualisations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348D9-BC76-2DF8-9285-2CB956C76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833" y="1194708"/>
            <a:ext cx="10515600" cy="4665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900" dirty="0" err="1"/>
              <a:t>Seaborn</a:t>
            </a:r>
            <a:r>
              <a:rPr lang="en-GB" sz="1900" dirty="0"/>
              <a:t> was not available in the </a:t>
            </a:r>
            <a:r>
              <a:rPr lang="en-GB" sz="1900" dirty="0" err="1"/>
              <a:t>Pyodide</a:t>
            </a:r>
            <a:r>
              <a:rPr lang="en-GB" sz="1900" dirty="0"/>
              <a:t> environment. Therefore, equivalent visualisations were created using </a:t>
            </a:r>
            <a:r>
              <a:rPr lang="en-GB" sz="1900" dirty="0" err="1"/>
              <a:t>Matplotlib</a:t>
            </a:r>
            <a:r>
              <a:rPr lang="en-GB" sz="1900" dirty="0"/>
              <a:t> to meet the objectives.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126531-3295-5E06-657E-A41E81CCF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0" t="46999" r="44654" b="21362"/>
          <a:stretch>
            <a:fillRect/>
          </a:stretch>
        </p:blipFill>
        <p:spPr>
          <a:xfrm>
            <a:off x="75823" y="2081938"/>
            <a:ext cx="4011905" cy="29114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4E5F60-7065-7F1D-D2FF-EA02C91371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58" t="40302" r="43912" b="17843"/>
          <a:stretch>
            <a:fillRect/>
          </a:stretch>
        </p:blipFill>
        <p:spPr>
          <a:xfrm>
            <a:off x="4244483" y="2060960"/>
            <a:ext cx="4007998" cy="29956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6D1315-9ED4-9C60-2DDD-741D6EF255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98" t="31930" r="47647" b="25638"/>
          <a:stretch>
            <a:fillRect/>
          </a:stretch>
        </p:blipFill>
        <p:spPr>
          <a:xfrm>
            <a:off x="8280912" y="2060960"/>
            <a:ext cx="3607031" cy="29956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703554-9241-076F-A9ED-B7B125282431}"/>
              </a:ext>
            </a:extLst>
          </p:cNvPr>
          <p:cNvSpPr txBox="1"/>
          <p:nvPr/>
        </p:nvSpPr>
        <p:spPr>
          <a:xfrm>
            <a:off x="595052" y="5035654"/>
            <a:ext cx="3492675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700" dirty="0"/>
              <a:t>The line chart shows that age is a major driver of insurance costs. Charges increase steadily as age increases, particularly for middle-aged and senior individuals.</a:t>
            </a:r>
            <a:endParaRPr lang="en-US" sz="1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83D150-079D-DDF0-E5D1-1FB8B04C2CC6}"/>
              </a:ext>
            </a:extLst>
          </p:cNvPr>
          <p:cNvSpPr txBox="1"/>
          <p:nvPr/>
        </p:nvSpPr>
        <p:spPr>
          <a:xfrm rot="10800000" flipV="1">
            <a:off x="4566983" y="5056629"/>
            <a:ext cx="3699714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700" dirty="0"/>
              <a:t>The scatter graph indicates that BMI also influenced insurance charges. People with higher BMI, especially in the overweight and obese categories, tend to have higher costs. </a:t>
            </a:r>
            <a:endParaRPr lang="en-US" sz="17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BE76D9-2FFA-EFB1-5F12-27AF0F8EEE26}"/>
              </a:ext>
            </a:extLst>
          </p:cNvPr>
          <p:cNvSpPr txBox="1"/>
          <p:nvPr/>
        </p:nvSpPr>
        <p:spPr>
          <a:xfrm>
            <a:off x="8569357" y="5035654"/>
            <a:ext cx="3318586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700" dirty="0"/>
              <a:t>The </a:t>
            </a:r>
            <a:r>
              <a:rPr lang="en-GB" sz="1700" dirty="0" err="1"/>
              <a:t>heatmap</a:t>
            </a:r>
            <a:r>
              <a:rPr lang="en-GB" sz="1700" dirty="0"/>
              <a:t> shows that age has the strongest positive correlation, followed by BMI, while the number of children has a much weaker relationship.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823238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66554-360C-7A86-B957-DB0E41948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96" y="18255"/>
            <a:ext cx="10515600" cy="1325563"/>
          </a:xfrm>
        </p:spPr>
        <p:txBody>
          <a:bodyPr/>
          <a:lstStyle/>
          <a:p>
            <a:r>
              <a:rPr lang="en-GB" dirty="0"/>
              <a:t>Key Insights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DE87A-FA43-6775-22EE-7C9E70800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996" y="1253331"/>
            <a:ext cx="10515600" cy="4351338"/>
          </a:xfrm>
        </p:spPr>
        <p:txBody>
          <a:bodyPr>
            <a:noAutofit/>
          </a:bodyPr>
          <a:lstStyle/>
          <a:p>
            <a:r>
              <a:rPr lang="en-GB" sz="2200" dirty="0"/>
              <a:t>Smoking status has the strongest impact on insurance charges. Smokers consistently show much higher average and median charges compared to non-smokers. </a:t>
            </a:r>
          </a:p>
          <a:p>
            <a:r>
              <a:rPr lang="en-GB" sz="2200" dirty="0"/>
              <a:t>Region and gender show some variation in charges, but their impact is relatively small compared to lifestyle and age-related factors.   </a:t>
            </a:r>
          </a:p>
          <a:p>
            <a:r>
              <a:rPr lang="en-GB" sz="2200" dirty="0"/>
              <a:t>Charges are right-skewed, which means there are very few high costs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985258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0A34A-EB2D-24D9-1408-B8C5DA270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24298"/>
            <a:ext cx="10515600" cy="1325563"/>
          </a:xfrm>
        </p:spPr>
        <p:txBody>
          <a:bodyPr/>
          <a:lstStyle/>
          <a:p>
            <a:r>
              <a:rPr lang="en-GB" dirty="0"/>
              <a:t>Business Recommendations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38355-AB2A-5CE4-8ECA-FF61C94F2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833" y="1349861"/>
            <a:ext cx="10515600" cy="4351338"/>
          </a:xfrm>
        </p:spPr>
        <p:txBody>
          <a:bodyPr>
            <a:normAutofit/>
          </a:bodyPr>
          <a:lstStyle/>
          <a:p>
            <a:r>
              <a:rPr lang="en-GB" sz="2200" dirty="0"/>
              <a:t>Introduce incentives such as lower premiums for customers who quit smoking.</a:t>
            </a:r>
          </a:p>
          <a:p>
            <a:r>
              <a:rPr lang="en-GB" sz="2200" dirty="0"/>
              <a:t>Offer smoking cessation programmes in partnership with </a:t>
            </a:r>
            <a:r>
              <a:rPr lang="en-GB" sz="2200" dirty="0" err="1"/>
              <a:t>heslthcare</a:t>
            </a:r>
            <a:r>
              <a:rPr lang="en-GB" sz="2200" dirty="0"/>
              <a:t> providers.</a:t>
            </a:r>
          </a:p>
          <a:p>
            <a:r>
              <a:rPr lang="en-GB" sz="2200" dirty="0"/>
              <a:t>Promote preventive care and regular health screenings for older customers.</a:t>
            </a:r>
          </a:p>
          <a:p>
            <a:r>
              <a:rPr lang="en-GB" sz="2200" dirty="0"/>
              <a:t>Use BMI categories to support early risk identification.</a:t>
            </a:r>
          </a:p>
        </p:txBody>
      </p:sp>
    </p:spTree>
    <p:extLst>
      <p:ext uri="{BB962C8B-B14F-4D97-AF65-F5344CB8AC3E}">
        <p14:creationId xmlns:p14="http://schemas.microsoft.com/office/powerpoint/2010/main" val="4287735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C8F13-97C6-7375-AD1E-588BDE5BB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55" y="0"/>
            <a:ext cx="10515600" cy="1332528"/>
          </a:xfrm>
        </p:spPr>
        <p:txBody>
          <a:bodyPr/>
          <a:lstStyle/>
          <a:p>
            <a:r>
              <a:rPr lang="en-GB" dirty="0"/>
              <a:t>Closing and Reflection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AEA88-D938-E8BB-1493-837840A37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253331"/>
            <a:ext cx="1140822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/>
              <a:t>Based on this analysis, I can clearly see that smoking status, age, and BMI are the strongest drivers of insurance charges due to their direct link to health risk and medical costs. </a:t>
            </a:r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r>
              <a:rPr lang="en-GB" sz="2200" dirty="0"/>
              <a:t>The findings provides actionable insights that support fair pricing and better decision-making.  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032409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462</Words>
  <Application>Microsoft Macintosh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Insurance Charges Analysis </vt:lpstr>
      <vt:lpstr>Dataset Overview</vt:lpstr>
      <vt:lpstr>Data Preparation</vt:lpstr>
      <vt:lpstr>Exploratory Analysis</vt:lpstr>
      <vt:lpstr>Matplotlib Visualisations</vt:lpstr>
      <vt:lpstr>Key Insights </vt:lpstr>
      <vt:lpstr>Business Recommendations</vt:lpstr>
      <vt:lpstr>Closing and Reflection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Charges Analysis </dc:title>
  <dc:creator>Fatima Riasat</dc:creator>
  <cp:lastModifiedBy>Amna Riasat (Student)</cp:lastModifiedBy>
  <cp:revision>4</cp:revision>
  <dcterms:created xsi:type="dcterms:W3CDTF">2026-01-29T15:14:03Z</dcterms:created>
  <dcterms:modified xsi:type="dcterms:W3CDTF">2026-02-04T07:57:10Z</dcterms:modified>
</cp:coreProperties>
</file>